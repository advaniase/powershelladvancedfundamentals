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_rels/slide22.xml.rels" ContentType="application/vnd.openxmlformats-package.relationships+xml"/>
  <Override PartName="/ppt/slides/_rels/slide35.xml.rels" ContentType="application/vnd.openxmlformats-package.relationships+xml"/>
  <Override PartName="/ppt/slides/_rels/slide4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0.xml.rels" ContentType="application/vnd.openxmlformats-package.relationships+xml"/>
  <Override PartName="/ppt/slides/_rels/slide4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47.xml.rels" ContentType="application/vnd.openxmlformats-package.relationships+xml"/>
  <Override PartName="/ppt/slides/_rels/slide3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6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.xml.rels" ContentType="application/vnd.openxmlformats-package.relationships+xml"/>
  <Override PartName="/ppt/slides/_rels/slide50.xml.rels" ContentType="application/vnd.openxmlformats-package.relationships+xml"/>
  <Override PartName="/ppt/slides/_rels/slide42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51.xml.rels" ContentType="application/vnd.openxmlformats-package.relationships+xml"/>
  <Override PartName="/ppt/slides/_rels/slide43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52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53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49.xml.rels" ContentType="application/vnd.openxmlformats-package.relationships+xml"/>
  <Override PartName="/ppt/slides/_rels/slide14.xml.rels" ContentType="application/vnd.openxmlformats-package.relationships+xml"/>
  <Override PartName="/ppt/slides/_rels/slide48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44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77.xml.rels" ContentType="application/vnd.openxmlformats-package.relationships+xml"/>
  <Override PartName="/ppt/slides/_rels/slide78.xml.rels" ContentType="application/vnd.openxmlformats-package.relationships+xml"/>
  <Override PartName="/ppt/slides/_rels/slide79.xml.rels" ContentType="application/vnd.openxmlformats-package.relationships+xml"/>
  <Override PartName="/ppt/slides/_rels/slide80.xml.rels" ContentType="application/vnd.openxmlformats-package.relationships+xml"/>
  <Override PartName="/ppt/slides/_rels/slide8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_rels/notesSlide4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3" r:id="rId3"/>
    <p:sldMasterId id="2147483655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.xml"/><Relationship Id="rId4" Type="http://schemas.openxmlformats.org/officeDocument/2006/relationships/slideMaster" Target="slideMasters/slideMaster5.xml"/><Relationship Id="rId5" Type="http://schemas.openxmlformats.org/officeDocument/2006/relationships/slideMaster" Target="slideMasters/slideMaster6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sv-S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sv-S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1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1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B759D3-9BD2-4514-AA9E-A19088F7B0EB}" type="slidenum"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94A6DA-16A1-475B-8351-714F6CAB9A6B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80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CD5A5D-5C0D-457A-8CFA-7DC8D2A1820E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80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7A45A9-9C3F-4069-90EE-2C1B54DC9067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80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B652B8-619D-4414-855B-9C4CC54F6A5C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80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F70127-E4FB-4975-B32A-89707F70B37E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80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63A55C-F5AC-412E-9A52-87FB79BACF81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80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FC4EC9-E970-488E-804C-A61B2CEE0B2F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80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237222-3F4E-4BBD-8974-844A78E1FDC2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80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8840" cy="43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320" cy="15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&lt;footer&gt;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686944-12F5-4BB6-A0D0-1676745FCBEA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8840" cy="43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320" cy="15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&lt;footer&gt;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401CCA-36A4-4F40-8BE6-CF5096370E4F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8840" cy="43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320" cy="15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&lt;footer&gt;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BFECF0-37E7-4490-A9F0-8E5C53454B4A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8840" cy="43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320" cy="15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&lt;footer&gt;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25D876-3B39-4013-9360-F24824BF32BB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8148EFF-2C57-4CBE-91D2-D363AF6206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sv-S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7E2B102A-3224-4C3D-823B-6B2174CF5A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sv-S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4030D99D-38A6-4691-A2DD-534D5E0496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sv-S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8840" cy="43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320" cy="15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ftr" idx="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&lt;footer&gt;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3CD96E-3D15-4848-B459-7429E83AB024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sv-S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sv-SE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8840" cy="43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320" cy="15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ftr" idx="1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1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41B5DA-CE1F-41BC-A1DE-DA722CC58240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sv-SE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8840" cy="43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320" cy="15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Picture 7" descr=""/>
          <p:cNvPicPr/>
          <p:nvPr/>
        </p:nvPicPr>
        <p:blipFill>
          <a:blip r:embed="rId4">
            <a:alphaModFix amt="70000"/>
          </a:blip>
          <a:stretch/>
        </p:blipFill>
        <p:spPr>
          <a:xfrm>
            <a:off x="5543280" y="457200"/>
            <a:ext cx="5807520" cy="344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70896D-D3F2-4056-B2E8-8C9F37927243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sv-SE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mailto:bjorn.sundling@advania.com" TargetMode="External"/><Relationship Id="rId2" Type="http://schemas.openxmlformats.org/officeDocument/2006/relationships/hyperlink" Target="https://bsky.app/profile/bjompen.com" TargetMode="External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hyperlink" Target="https://i.redd.it/8341g68g1v7y.png" TargetMode="External"/><Relationship Id="rId3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code.visualstudio.com/docs/configure/keybindings#_keyboard-shortcuts-reference" TargetMode="Externa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7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hyperlink" Target="https://docs.microsoft.com/en-us/dotnet/standard/base-types/regular-expression-language-quick-reference" TargetMode="External"/><Relationship Id="rId2" Type="http://schemas.openxmlformats.org/officeDocument/2006/relationships/hyperlink" Target="https://regex101.com/" TargetMode="External"/><Relationship Id="rId3" Type="http://schemas.openxmlformats.org/officeDocument/2006/relationships/slideLayout" Target="../slideLayouts/slideLayout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7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7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hyperlink" Target="https://www.youtube.com/watch?v=BZ8X6nLGrxM" TargetMode="External"/><Relationship Id="rId3" Type="http://schemas.openxmlformats.org/officeDocument/2006/relationships/hyperlink" Target="https://www.youtube.com/watch?v=BZ8X6nLGrxM" TargetMode="External"/><Relationship Id="rId4" Type="http://schemas.openxmlformats.org/officeDocument/2006/relationships/hyperlink" Target="https://www.youtube.com/watch?v=BZ8X6nLGrxM" TargetMode="External"/><Relationship Id="rId5" Type="http://schemas.openxmlformats.org/officeDocument/2006/relationships/hyperlink" Target="https://www.youtube.com/watch?v=BZ8X6nLGrxM" TargetMode="External"/><Relationship Id="rId6" Type="http://schemas.openxmlformats.org/officeDocument/2006/relationships/hyperlink" Target="https://www.youtube.com/watch?v=BZ8X6nLGrxM" TargetMode="External"/><Relationship Id="rId7" Type="http://schemas.openxmlformats.org/officeDocument/2006/relationships/slideLayout" Target="../slideLayouts/slideLayout7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7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7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7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hyperlink" Target="https://github.com/search?q=language:PowerShell&amp;type=Repositories" TargetMode="External"/><Relationship Id="rId2" Type="http://schemas.openxmlformats.org/officeDocument/2006/relationships/hyperlink" Target="https://powershelluniversal.com/" TargetMode="External"/><Relationship Id="rId3" Type="http://schemas.openxmlformats.org/officeDocument/2006/relationships/hyperlink" Target="https://www.manning.com/books/learn-powershell-toolmaking-in-a-month-of-lunches" TargetMode="External"/><Relationship Id="rId4" Type="http://schemas.openxmlformats.org/officeDocument/2006/relationships/slideLayout" Target="../slideLayouts/slideLayout5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6000" strike="noStrike" u="none">
                <a:solidFill>
                  <a:schemeClr val="lt1"/>
                </a:solidFill>
                <a:effectLst/>
                <a:uFillTx/>
                <a:latin typeface="Aptos Display"/>
              </a:rPr>
              <a:t>PowerShell Advanced Fundamentals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56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6000" strike="noStrike" u="none">
                <a:solidFill>
                  <a:schemeClr val="lt1"/>
                </a:solidFill>
                <a:effectLst/>
                <a:uFillTx/>
                <a:latin typeface="Aptos Display"/>
              </a:rPr>
              <a:t>Introduction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55A1ED8D-32FF-4E99-A11D-4030EFD7667F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sv-SE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Björn Sundling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  <a:hlinkClick r:id="rId1"/>
              </a:rPr>
              <a:t>bjorn.sundling@advania.com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  <a:hlinkClick r:id="rId2"/>
              </a:rPr>
              <a:t>https://bsky.app/profile/bjompen.com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You?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Get-Participant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Get-Expectation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2DFF264-7889-4AC5-8EA5-D8F393FBD3B5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Agenda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 Intro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with Pester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B8E1570-EED6-4D0B-80A1-B7E738BA817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Agenda (non technical)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Chapter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Coffee break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Start @ 9.00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Lunch @ ~11.30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Done @ ~16.00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Voluntary recap @ ~8.30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69030D8-96E2-4B62-B843-0F8A659CE4B9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Bring Your Own Lab!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It’s easier to understand your own issues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666A650-E345-402B-95F8-517A37F86A10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How to do labs?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Lab.md</a:t>
            </a: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–No solutions.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Detailed.md – Some help.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More than one way of solving an issue.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“If it’s stupid and it works, it’s not stupid”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Run from file or change paths!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$PSScriptRoot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Dot source a file ’. .\MyFile.ps1’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A939C2C-7F7D-4B62-81F1-8EAFE68D735D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0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00. Install PowerShell, VSCode, Git, and create a GitHub account.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F6A21FD7-C974-49B9-8F8C-BD21BB1A80D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Try Along!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Try stuff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Break stuff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Fix stuff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Understand stuff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698AFAA-EFA0-4E20-94F3-7099783CBF6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63A9A8C-876F-4C47-9882-1DC99E5F16BA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Why version control?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Script-Folder problem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v1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v2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v2.final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Central location for main data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Where's latest?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Snapshot based - Go back and forth in time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History of What, When and Whom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Collaboration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BE6C524-C196-4A5A-9C78-46D3413E9387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vs GitHub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is a protocol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GitHub is a Service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(with many many alternatives!)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89023D0-AF77-4B78-96A0-FD0DED5F5296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Your service provider – GitHub/Azure DevOps/BitBucket et. al.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Fork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Pull request / PR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GitHub CLI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az devops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03D2B86-06D2-496E-977F-077AFC79D917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Only six commands!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status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Show current git changes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init / git clone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Create an empty repo or clone an existing “remote”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HTTPS vs. SSH?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add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Add one or more files for staging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pull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Find and download “remote” changes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commit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Create a snapshot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-m ‘message’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Add a commit message without entering vim…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push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Push changes to remote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83470B9-9CA6-4A92-AB37-F64345D42064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Working with branches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Strategies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GitHub Flow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Flow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Trunk based development / single branch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checkout –b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Create a branch and change to it directly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branch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Create a branch but stay on current one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372F089-FEEA-4AD6-8365-AFAB1D60CF74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Visual tools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Start with CLI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GitHub Desktop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posh-git / OhMyPosh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Gource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40D3212-DFA8-4603-8774-275B97675E28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1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01. git Started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2"/>
              </a:rPr>
              <a:t>https://i.redd.it/8341g68g1v7y.png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 - Git cheat sheet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A645FFD3-D116-477E-A763-5C6FECB8008A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Aptos Display"/>
              </a:rPr>
              <a:t>VSCode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EB270DA8-541E-4370-8D24-8497B38A9E9D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Why?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Free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Cross-platform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Open source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Microsoft standard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59524A9-56B2-4542-AA19-FD6FB24E9FE1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Basic Features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Open Folder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ISE mode (for the old school PowerShell devs)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Snippets / CoPilot integration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integration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Extensions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From PowerShell...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...via HTML previews....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..to live share!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261459F-D393-4407-8A44-E247ABE9BEDF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Editor Features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Move row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Duplicate row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Comment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Multi Cursor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Bracket pair colorization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893A35D-CDBA-4482-BA72-AF249B9FB208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Integration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Terminal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IntelliSense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Code-format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Debugger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FADE8A4-1045-4BB0-9003-7DBDC9D4C8EE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753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F1 – The key to the kingdom.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Keybindings for all OS’s: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  <a:hlinkClick r:id="rId1"/>
              </a:rPr>
              <a:t>https://code.visualstudio.com/docs/configure/keybindings#_keyboard-shortcuts-reference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indent="0" defTabSz="91440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sv-SE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14D6E09-4E38-4F65-9D69-414EF55F9019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9AC109F2-954F-44AD-8FF6-40E12474CF0A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Goal: Re-Use Code!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Multiple copies are hard to maintain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Never Copy &amp; Paste code!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Hiding details makes a script easier to read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71D16E9-0475-4AB5-9E8F-CC06ED9FAE8F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Example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Just code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Function and code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4" descr=""/>
          <p:cNvPicPr/>
          <p:nvPr/>
        </p:nvPicPr>
        <p:blipFill>
          <a:blip r:embed="rId1"/>
          <a:stretch/>
        </p:blipFill>
        <p:spPr>
          <a:xfrm>
            <a:off x="3621960" y="990000"/>
            <a:ext cx="7611120" cy="551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6" descr=""/>
          <p:cNvPicPr/>
          <p:nvPr/>
        </p:nvPicPr>
        <p:blipFill>
          <a:blip r:embed="rId2"/>
          <a:stretch/>
        </p:blipFill>
        <p:spPr>
          <a:xfrm>
            <a:off x="3621960" y="2489400"/>
            <a:ext cx="5937480" cy="21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967BA3C-556C-4AD9-991D-03D1FB6F62AB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nodeType="withEffect" fill="hold" presetClass="emph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" dur="indefinite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Verb-Noun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Get-Verb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(Better in PS7!)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Unless you are writing “internal” functions.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05F1127-51A3-4F6A-B568-D3D4F31A57A7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Function scoped variables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$PSBoundParameters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Always available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Only contains key/value of parameters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$PSCmdlet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Only in advanced functions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Contains “everything” about a function execution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$PSCommandPath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Only in saved files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Contains full path to .ps1/.psm1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$PSScriptRoot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Only in saved files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Contains parent of .ps1/.psm1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65B8610-2475-41C0-B305-AF9534027FE6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Extremely uncommon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Your own "Select" commands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Behaves like a function with all code in the ‘process’ block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Repeats once per input from pipeline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A85B2BA-C40A-4C71-A386-AA65B874CBD5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Not for pipelines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Easy to understand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Good for "helpers“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Can still use parameters, named or $args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1ABBFC8-34F6-40DC-A982-18D13D9CAA41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Advanced 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CmdletBinding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ConfirmImpact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DefaultParameterSetName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HelpUri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SupportsShouldProcess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OutputType()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3ABA6E6-3628-40C5-BDB9-E2733B2C17D2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Advanced 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Begin {}, Process {}, End {}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(and clean {} if you are on 7.3 or later..)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If not defined, all code is in the end {} block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2AEA107-B524-4558-BC28-DC5C2FFFE257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Advanced 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Rich Parameter support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Metadata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Mandatory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Position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Pipeline Input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ParameterSetName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Alias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HelpMessage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DontShow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Type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Implicit Casting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Validation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AllowNull()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AllowEmptyString()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ValidateCount(1,5)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ValidateLength(1,5)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ValidatePattern('+')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ValidateScript( { Test-Path $_ } 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ValidateSet( 'Apelsin', 'Banan', 'Clementin')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ErrorMessage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BBD905A-97B3-4E8F-917F-B4EB3A1D2A97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Advanced 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Switch-Parameters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On / Off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F10C8EC-CF2E-4AEF-AE0C-582ECECAE599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1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2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02. Functions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3F24EF70-B78E-451F-A46E-A72B450F1BCD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17191735-E579-4B46-9CDB-233A299FBE39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Comes from DSC – Dynamic State Configuration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More Dev-Oriented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FDA0F67-8621-4429-B27F-9701B31FE3C9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[ClassName]::New()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New-Object -TypeName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BC61087-8D6E-4EFB-88D6-0588407ABE69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Only output from return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Class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Property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Method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Constructor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Hidden Property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Static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Can also do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Inheritance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Interfaces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More….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9522008-9250-4A04-BFDB-44B46A46A937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Enum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enum &lt;name&gt; {}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Bitflag-like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[flags()] enum &lt;name&gt; {}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57709D4-68C3-47E5-AB4A-8093C78526E4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1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3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03. Classes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A17DDD44-EE4E-4BD2-A88F-7F5DFD9DC2C6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FB8B05F7-D906-4B6A-92CE-5978440E4040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Pattern matching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Validating input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Searching for part of text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Log searching w. Select-String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Phone number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Birth date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Replacing text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3E3DA71-A893-4997-91C1-60D1D486D7D0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-Match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$matches variable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[regex]::Match / [regex]::Matches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Case sensitive!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9652BC1-907E-45C2-97F6-C27398BCAA0A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Use web tools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But remember to check the RegEx flavors – PowerShell uses .Net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Arial"/>
                <a:hlinkClick r:id="rId1"/>
              </a:rPr>
              <a:t>Regular Expression Language - Quick Reference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Microsoft Learn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  <a:hlinkClick r:id="rId2"/>
              </a:rPr>
              <a:t>Regex101.com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Online regex tester and debugger: PHP, PCRE, Python, Golang and JavaScript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A65D799-0B18-4FCA-9410-073DB88383F6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Special characters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[]$.|?*+()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3B43B9D-342D-40F3-8204-B52E70D7271D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Character classes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Word - \w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Space -\s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Digit - \d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Character group - [A-Za-z0-9]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Unicode - \P{IsGreek}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Negated classes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Word - \W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Space -\S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Digit - \D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EC9094E-2F18-4225-A8FD-A7B5989B8460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Quantifiers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?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*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+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{2}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{2,}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{2,5}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9C15D95-29F1-4FA6-99EC-A009551FAD19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Groups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Subexpression  My name is (+)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Named Subexpression  My name is (?&lt;name&gt;+)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0D13FF7-58B4-450E-A13C-0AC06FE7DD02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1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4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04. Regex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243DA704-E337-4721-8F83-7C862EC5BFA3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(yeah, ok, web APIs…)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224073A-6F65-4303-A6BF-DB27ADDDC554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What is an API?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Rest and SOAP.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CE2D552-9EA1-4385-8AF1-7CF9155E9CB6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Invoke-WebRequest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Raw data results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Invoke-RestMethod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Parses results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Better in PowerShell 7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Entirely different backend in PS7 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Behaves different. Verify your code.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EEEADC1-8D25-4906-ACC4-96CB6ED44D59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Authentication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Basic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Username / password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PAT - Personal Access Tokens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OAUTH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-UseDefaultCredentials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BD4D446-F14F-4ACC-BD82-4C41C7C6FD0C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TLS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[Net.ServicePointManager]::SecurityProtocol = [Net.SecurityProtocolType]::Tls12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Encoding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[console]::OutputEncoding = [System.Text.Encoding]::UTF8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619BC5C-9EE9-4004-B331-69315FC3B19F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1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5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05. API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87582DD7-4B3C-46FE-981B-0DF397CA553E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3F64F925-05ED-40BA-8811-7AEE7419704B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Two kinds of errors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Terminating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Stops the command or pipeline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Get-Item 'BadFile.bad' -ErrorAction Stop ; Write-Host 'bad file is bad'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Non-terminating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Continues the command or pipeline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Get-Item 'BadFile.bad' ; Write-Host 'bad file is bad'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6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(actually three – or even more - Statement terminating and script terminating)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6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https://stackoverflow.com/a/72802148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6E1E5A7-60D4-496D-B590-624A253E9D35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ErrorAction / ErrorActionPreference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ErrorView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Get-Error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</a:t>
            </a:r>
            <a:r>
              <a:rPr b="0" lang="en-GB" sz="2800" strike="sngStrike" u="none">
                <a:solidFill>
                  <a:schemeClr val="lt1"/>
                </a:solidFill>
                <a:effectLst/>
                <a:uFillTx/>
                <a:latin typeface="Arial"/>
              </a:rPr>
              <a:t>Coming</a:t>
            </a: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0" lang="en-GB" sz="2800" strike="sngStrike" u="none">
                <a:solidFill>
                  <a:schemeClr val="lt1"/>
                </a:solidFill>
                <a:effectLst/>
                <a:uFillTx/>
                <a:latin typeface="Arial"/>
              </a:rPr>
              <a:t>soon</a:t>
            </a: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Available in 7.5 – RecommendedAction!)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3FB67F6-D68D-49F3-9569-7EE623019AF8}" type="slidenum">
              <a:t>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Try/Catch/Finally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Trap{}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DB945DC-B5A4-485C-A559-78385E6B9E2C}" type="slidenum">
              <a:t>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1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6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06. Error Handling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 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2"/>
              </a:rPr>
              <a:t>The art of throwing errors - Emrys 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3"/>
              </a:rPr>
              <a:t>MacInally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4"/>
              </a:rPr>
              <a:t> - 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5"/>
              </a:rPr>
              <a:t>PSConfEU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6"/>
              </a:rPr>
              <a:t> 2024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A69DD851-1AD2-4FB4-B625-582275E3E043}" type="slidenum">
              <a:t>61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1C4A113B-453A-4373-ABEC-D9F2E31D078C}" type="slidenum">
              <a:t>62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Hard see what happens inside your code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Better than “Write-Host” 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😉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Can debug other and external processes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0A6C99D-6D7C-4393-B56B-A22B6E098B9B}" type="slidenum">
              <a:t>63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VSCode Breakpoints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Line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Condition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HitCount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Log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Watch window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C9A6B6B-F8AE-4D29-9EF1-0A5722AA8B6F}" type="slidenum">
              <a:t>64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Set-PSBreakpoint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Line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Script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Action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Column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Command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Script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Action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Variable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Script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Action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E7CBF01-7511-428B-8432-09DFCEF8C1E7}" type="slidenum">
              <a:t>65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1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7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07. Debugging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07EBD7B0-0BC1-4FD1-A56D-F5F45E963602}" type="slidenum">
              <a:t>66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86D64A19-B389-4780-8578-1CFDE77223B9}" type="slidenum">
              <a:t>67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Basic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psm1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Folder name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Manifest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D8B51D5-10C9-4DC8-A076-A85E035D88BD}" type="slidenum">
              <a:t>68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Splitting code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Private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Public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Class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219732B-206D-4A16-A495-0A12DEAA39D3}" type="slidenum">
              <a:t>69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Combining code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Faster load time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Looking good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0FF3508-6D5C-4AA2-871E-FED90536575F}" type="slidenum">
              <a:t>70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Help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Comment Based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External Help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F8A6361-3BF7-4C77-8D00-2BF0AE1C1262}" type="slidenum">
              <a:t>71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Module helper tools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ModuleBuilder - Combine and build your modules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PlatyPS - Write help in Markdown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Invoke-Build - Build automation tool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Sampler - All of the above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4CDEFC4-A754-4638-8B1B-2D1ED1566F99}" type="slidenum">
              <a:t>72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Modules can be done in C# or F#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Publish to PSGallery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Possible to create your own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8E43B3A-5194-453F-B617-31BAA4CFF94F}" type="slidenum">
              <a:t>73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1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8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08. Building Modules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FA89A07A-6630-4955-802E-D1E907BB7934}" type="slidenum">
              <a:t>74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BA4A729C-B5B1-4B91-86C5-3ED9487B5261}" type="slidenum">
              <a:t>75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Unit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Integration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1BCEAFA-6070-474C-8CA8-0A34CEB7E785}" type="slidenum">
              <a:t>76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Commands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Describe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Context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Should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Mock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23D2B65-3B7C-4C58-9609-E34CE144C63F}" type="slidenum">
              <a:t>77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TDD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Infrastructure Testing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21894F1-8A5E-4458-B8EB-22E958DA576F}" type="slidenum">
              <a:t>78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168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6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9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09. Pester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100FB43D-D18E-4124-93B9-07F0CB6211FB}" type="slidenum">
              <a:t>79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And then what??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100" strike="noStrike" u="none">
                <a:solidFill>
                  <a:schemeClr val="lt1"/>
                </a:solidFill>
                <a:effectLst/>
                <a:uFillTx/>
                <a:latin typeface="Arial"/>
                <a:hlinkClick r:id="rId1"/>
              </a:rPr>
              <a:t>https://github.com/search?q=language:PowerShell&amp;type=Repositories</a:t>
            </a:r>
            <a:endParaRPr b="0" lang="sv-SE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100" strike="noStrike" u="none">
                <a:solidFill>
                  <a:schemeClr val="lt1"/>
                </a:solidFill>
                <a:effectLst/>
                <a:uFillTx/>
                <a:latin typeface="Arial"/>
                <a:hlinkClick r:id="rId2"/>
              </a:rPr>
              <a:t>https://powershelluniversal.com/</a:t>
            </a:r>
            <a:endParaRPr b="0" lang="sv-SE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100" strike="noStrike" u="none">
                <a:solidFill>
                  <a:schemeClr val="lt1"/>
                </a:solidFill>
                <a:effectLst/>
                <a:uFillTx/>
                <a:latin typeface="Arial"/>
                <a:hlinkClick r:id="rId3"/>
              </a:rPr>
              <a:t>https://www.manning.com/books/learn-powershell-toolmaking-in-a-month-of-lunches</a:t>
            </a:r>
            <a:endParaRPr b="0" lang="sv-SE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sv-SE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868FFC1-F9B7-4E40-A6B6-3DCF8A1E5063}" type="slidenum">
              <a:t>80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6000" strike="noStrike" u="none">
                <a:solidFill>
                  <a:schemeClr val="lt1"/>
                </a:solidFill>
                <a:effectLst/>
                <a:uFillTx/>
                <a:latin typeface="Aptos Display"/>
              </a:rPr>
              <a:t>PowerShell Advanced Fundamentals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56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Bjorn.sundling@advania.com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be9f7"/>
      </a:hlink>
      <a:folHlink>
        <a:srgbClr val="d5bec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be9f7"/>
      </a:hlink>
      <a:folHlink>
        <a:srgbClr val="d5bec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be9f7"/>
      </a:hlink>
      <a:folHlink>
        <a:srgbClr val="d5bec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be9f7"/>
      </a:hlink>
      <a:folHlink>
        <a:srgbClr val="d5bec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2046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2024-08-01T08:10:01Z</dcterms:created>
  <dc:creator>Björn Sundling</dc:creator>
  <dc:description/>
  <dc:language>sv-SE</dc:language>
  <cp:lastModifiedBy/>
  <dcterms:modified xsi:type="dcterms:W3CDTF">2026-01-12T16:46:54Z</dcterms:modified>
  <cp:revision>53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Widescreen</vt:lpwstr>
  </property>
  <property fmtid="{D5CDD505-2E9C-101B-9397-08002B2CF9AE}" pid="4" name="Slides">
    <vt:r8>79</vt:r8>
  </property>
</Properties>
</file>